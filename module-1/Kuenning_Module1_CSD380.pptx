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58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BB7AC-E001-90E4-D3C9-4AA7FB227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B21890-92F1-D17B-87BD-760DC564F3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61184-5CD5-2312-BF4D-D58172303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4E3B-AC93-4151-849C-F7C736B3634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297E2-A65A-967B-E6BC-315E7F209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38A41-0A1B-5173-4CCC-CA2543CD8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8ADC-EF71-4B07-98DC-4071C4278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8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F69A5-6605-34E5-D71D-3AC9213BC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D99B2-39E9-D4BA-9F9D-00EAA1628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7ED07-25F6-E9CC-E17E-8EFA2401E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4E3B-AC93-4151-849C-F7C736B3634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ECCB2-0FB9-0427-52B4-36CF28A06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4D6AA-D98E-4821-6EB0-3BE77DD58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8ADC-EF71-4B07-98DC-4071C4278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7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7F3BF-D407-2CB2-E845-BEA9CBFED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6C82B-819E-721A-BFDE-537ABC95B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6BCAC-0AEA-87F5-5C29-4651C519D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4E3B-AC93-4151-849C-F7C736B3634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F458A-2FFB-D3F5-5742-E71277544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55D4C-6356-7807-7CDD-A4C650D96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8ADC-EF71-4B07-98DC-4071C4278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77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91AE9-E179-24BB-3957-80FA5EA28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0F091-6E4C-E3AA-39BB-50E69B46C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3784DD-8A1F-B84E-D6E2-275721AED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6F795-AEA4-17F9-7EB4-46CC7447C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4E3B-AC93-4151-849C-F7C736B3634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19E39-B670-2B80-3472-B9B3910A0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8892D-D79C-6B84-6D9F-1024CEC84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8ADC-EF71-4B07-98DC-4071C4278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886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9B552-D448-7E0C-9055-14DFDBCC3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56640-4BDC-DFE7-2E1F-21CD2D488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F4198-C591-CEF1-6B73-59682CBE3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A43AB-FEAE-840E-2272-52342C48A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C186E4-5532-974F-BE13-1B1F14FDD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DF8390-3704-30CE-FDF6-9FE5635D9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4E3B-AC93-4151-849C-F7C736B3634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7AAAA6-BF0D-58F3-3452-8A0C34BDD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54E3FB-8563-D911-B0E6-728FA959B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8ADC-EF71-4B07-98DC-4071C4278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18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454F4-8045-18B7-5ABD-7E0E9EB78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60390A-3016-5EC4-1C03-A33F78596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4E3B-AC93-4151-849C-F7C736B3634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BE5A1-30B5-C01E-30C8-8A4A60434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0B29D6-5C90-9567-D76E-2839C2DFF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8ADC-EF71-4B07-98DC-4071C4278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482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CDFAD9-9C88-DFF3-B98C-9B41E3FD0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4E3B-AC93-4151-849C-F7C736B3634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4D797D-4550-9B50-0CC2-9B2AC8B2F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04387-4700-BBFE-EEC8-B805DA3D2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8ADC-EF71-4B07-98DC-4071C4278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173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A52D8-E4C1-1E16-E18A-2DFC96B63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2A17F-C59E-8BB3-5C2D-3E705DF82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7A0D2F-70CA-388B-BCAD-926F59F94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8EC90C-68E0-8C95-2B96-A84695137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4E3B-AC93-4151-849C-F7C736B3634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E0E484-4E71-626E-5A43-20FCDFF15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5755F-2CE6-A995-CF19-39C1EC8DD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8ADC-EF71-4B07-98DC-4071C4278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24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DDEFC-E204-A934-4610-025A2B067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DA6805-6F04-09D1-7981-9D69869168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D5D2CD-A3F4-7612-BC71-2A35D6A58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361C4-7DCA-9E9F-1B1D-3AB962B0C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4E3B-AC93-4151-849C-F7C736B3634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4B16A-CED5-8AA0-5E9A-F0E7CB5F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3A255-D5CF-84CB-C153-FFF0A4A6D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8ADC-EF71-4B07-98DC-4071C4278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57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67D8E-5187-007C-D838-6B7EBEE79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A7F82C-37BB-0F61-3BC2-10D8A8C0C1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8CC61-9671-6BD2-F7D4-C5A12A2CA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4E3B-AC93-4151-849C-F7C736B3634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75D1D-6194-D03D-5520-AACA544BE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AB3C5-E87E-A613-148A-29CFE4066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8ADC-EF71-4B07-98DC-4071C4278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88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14FD43-4B1A-3991-CBD0-491EF6ECA3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29DBCC-A73F-5F6A-A075-CA12ABABB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8EF4F-B254-8375-E63D-5A8DC64F4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4E3B-AC93-4151-849C-F7C736B3634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34F8-F888-F21C-D6C6-B1F4CA75E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F0D5E-0D94-0586-7F0F-687347442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8ADC-EF71-4B07-98DC-4071C4278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44086E-FA2B-3E04-F4BB-BBF9A9D2D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304E4-4C5C-0094-C71F-E77E93E05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2A014-20D5-7B95-A40F-FF504ACF7A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64E3B-AC93-4151-849C-F7C736B3634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98913-1475-376A-1211-35B2AFBFE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2B11B-385F-A4E7-9130-C090942C5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58ADC-EF71-4B07-98DC-4071C4278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74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F9F78-D090-64A7-EB12-AAF99B70BC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Technology Value Stream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8B777-BF5D-7E6D-E75D-2F4A110F08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Kristopher Kuenning</a:t>
            </a:r>
          </a:p>
          <a:p>
            <a:r>
              <a:rPr lang="en-US" dirty="0"/>
              <a:t>10/26/2025</a:t>
            </a:r>
          </a:p>
          <a:p>
            <a:r>
              <a:rPr lang="en-US" dirty="0"/>
              <a:t>CSD380</a:t>
            </a:r>
          </a:p>
          <a:p>
            <a:r>
              <a:rPr lang="en-US" dirty="0"/>
              <a:t>DevOps</a:t>
            </a:r>
          </a:p>
        </p:txBody>
      </p:sp>
    </p:spTree>
    <p:extLst>
      <p:ext uri="{BB962C8B-B14F-4D97-AF65-F5344CB8AC3E}">
        <p14:creationId xmlns:p14="http://schemas.microsoft.com/office/powerpoint/2010/main" val="3799864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350FF-9670-4162-8CAD-2CD06796E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Technology Value Stream?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D61F9-F7D4-077A-BDA7-3E37C219F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Lead time versus Processing Time</a:t>
            </a:r>
          </a:p>
          <a:p>
            <a:pPr lvl="1"/>
            <a:r>
              <a:rPr lang="en-US" dirty="0"/>
              <a:t>Lead time – Total elapsed time for when a request (bug fix, change, feature) is made until it is delivered and running in production.</a:t>
            </a:r>
          </a:p>
          <a:p>
            <a:pPr lvl="1"/>
            <a:r>
              <a:rPr lang="en-US" dirty="0"/>
              <a:t>Processing Time – Time when the work is actually in motion, the portion of lead time where active value-added is being done, rather than in motion or waiting.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Why does this matter?</a:t>
            </a:r>
          </a:p>
          <a:p>
            <a:pPr marL="457200" lvl="1" indent="0">
              <a:buNone/>
            </a:pPr>
            <a:r>
              <a:rPr lang="en-US" dirty="0"/>
              <a:t>The process may be optimized for process time, yet the lead time remains long enough for the work to sit in queues, waiting for approval, handoffs, or provisioning.</a:t>
            </a:r>
          </a:p>
        </p:txBody>
      </p:sp>
    </p:spTree>
    <p:extLst>
      <p:ext uri="{BB962C8B-B14F-4D97-AF65-F5344CB8AC3E}">
        <p14:creationId xmlns:p14="http://schemas.microsoft.com/office/powerpoint/2010/main" val="2996497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94ED3-77CF-0920-0197-4285A0486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Most Common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C0972-D7CD-AED4-1D65-405545C48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Handoffs between teams</a:t>
            </a:r>
          </a:p>
          <a:p>
            <a:pPr lvl="1"/>
            <a:r>
              <a:rPr lang="en-US" dirty="0"/>
              <a:t>Dev to QA to Release Engineering to Ops</a:t>
            </a:r>
          </a:p>
          <a:p>
            <a:r>
              <a:rPr lang="en-US" dirty="0"/>
              <a:t>Environmental provisioning</a:t>
            </a:r>
          </a:p>
          <a:p>
            <a:pPr lvl="1"/>
            <a:r>
              <a:rPr lang="en-US" dirty="0"/>
              <a:t>A place where work is waiting for weeks or months to get into production.</a:t>
            </a:r>
          </a:p>
          <a:p>
            <a:r>
              <a:rPr lang="en-US" dirty="0"/>
              <a:t>Large Batches</a:t>
            </a:r>
          </a:p>
          <a:p>
            <a:pPr lvl="1"/>
            <a:r>
              <a:rPr lang="en-US" dirty="0"/>
              <a:t>Changes that are grouped or merged may increase risk or rework.</a:t>
            </a:r>
          </a:p>
          <a:p>
            <a:r>
              <a:rPr lang="en-US" dirty="0"/>
              <a:t>Long Lead Times</a:t>
            </a:r>
          </a:p>
          <a:p>
            <a:pPr lvl="1"/>
            <a:r>
              <a:rPr lang="en-US" dirty="0"/>
              <a:t>Feedback loops are delayed, defects pile up, changes are more risky to deploy.</a:t>
            </a:r>
          </a:p>
        </p:txBody>
      </p:sp>
    </p:spTree>
    <p:extLst>
      <p:ext uri="{BB962C8B-B14F-4D97-AF65-F5344CB8AC3E}">
        <p14:creationId xmlns:p14="http://schemas.microsoft.com/office/powerpoint/2010/main" val="1385450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E92A1-341D-A167-19AF-DCF7329F0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Our DevOps Ideal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7F8EE-E62D-2F1C-22CB-562BA2E59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does this look like and why?</a:t>
            </a:r>
          </a:p>
          <a:p>
            <a:pPr lvl="1"/>
            <a:r>
              <a:rPr lang="en-US" dirty="0"/>
              <a:t>High-performing DevOps organizations aim to shrink deployment lead time– ideally to minutes or hours from days.</a:t>
            </a:r>
          </a:p>
          <a:p>
            <a:pPr lvl="1"/>
            <a:r>
              <a:rPr lang="en-US" dirty="0"/>
              <a:t>Developer commits a change, which they go through tests and pipelines, and then hand off to build, which will end up in production.</a:t>
            </a:r>
          </a:p>
          <a:p>
            <a:pPr lvl="1"/>
            <a:r>
              <a:rPr lang="en-US" dirty="0"/>
              <a:t>System is designed for small batch sizes, minimal hand-offs, and loosely-coupled.</a:t>
            </a:r>
          </a:p>
          <a:p>
            <a:pPr lvl="1"/>
            <a:r>
              <a:rPr lang="en-US" dirty="0"/>
              <a:t>“Deployment Lead Time begins when a developer checks a change into version control. Deployment Time ends when that change is successfully running in production.” – IT Revolution</a:t>
            </a:r>
          </a:p>
        </p:txBody>
      </p:sp>
    </p:spTree>
    <p:extLst>
      <p:ext uri="{BB962C8B-B14F-4D97-AF65-F5344CB8AC3E}">
        <p14:creationId xmlns:p14="http://schemas.microsoft.com/office/powerpoint/2010/main" val="3376400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BCF9B-0535-82F1-FE47-3BEAD6724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to apply Technology Value Stream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6C458-E461-7832-DC9F-5E94B1E06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Map your value stream – Identify the major processes and flows of those blocks.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Measure baseline metrics – Determine deployment lead time using existing tools.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Identify bottlenecks – Look at waiting times or where rework is high.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Define target – Aim to reduce deployment lead time from months to days to hours to minutes.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Introduce improvements – Pipeline steps, reduce batch sizes, and improve feedback loops.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Record and monitor – Impactful changes that are using your lead time or processing time.</a:t>
            </a:r>
          </a:p>
        </p:txBody>
      </p:sp>
    </p:spTree>
    <p:extLst>
      <p:ext uri="{BB962C8B-B14F-4D97-AF65-F5344CB8AC3E}">
        <p14:creationId xmlns:p14="http://schemas.microsoft.com/office/powerpoint/2010/main" val="3702006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64E6549-FE97-4FC4-9D6B-F21DE7C4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A043D173-C90F-458B-9AB2-3B29D2944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0B58EF7B-8D7F-442D-9F36-677B1C2FC2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38A17F4F-AB41-41A8-A14C-58163A36A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26" name="Picture 2" descr="OfferZen_Lessons-on-Using-DevOps-to-Become-More-Efficient-and-Reliable_inner-article">
            <a:extLst>
              <a:ext uri="{FF2B5EF4-FFF2-40B4-BE49-F238E27FC236}">
                <a16:creationId xmlns:a16="http://schemas.microsoft.com/office/drawing/2014/main" id="{31415B7D-E6A0-5409-B6E7-9804A72888A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3" r="1" b="1"/>
          <a:stretch>
            <a:fillRect/>
          </a:stretch>
        </p:blipFill>
        <p:spPr bwMode="auto">
          <a:xfrm>
            <a:off x="550863" y="549275"/>
            <a:ext cx="11090274" cy="5757925"/>
          </a:xfrm>
          <a:prstGeom prst="rect">
            <a:avLst/>
          </a:prstGeom>
          <a:noFill/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5274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33FC2-559F-D52E-144D-A65AE3CE2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E965F-9183-27DD-C0BB-30EA20797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effectLst/>
              </a:rPr>
              <a:t>Fenton, S. (2023, February 20). </a:t>
            </a:r>
            <a:r>
              <a:rPr lang="en-US" i="1" dirty="0">
                <a:effectLst/>
              </a:rPr>
              <a:t>Why are there so many definitions of Lead time?</a:t>
            </a:r>
            <a:r>
              <a:rPr lang="en-US" dirty="0">
                <a:effectLst/>
              </a:rPr>
              <a:t>. Why Are There So Many Definitions Of Lead Time? | Octopus blog. https://octopus.com/blog/definitions-of-lead-time?.com </a:t>
            </a:r>
          </a:p>
          <a:p>
            <a:r>
              <a:rPr lang="en-US" dirty="0">
                <a:effectLst/>
              </a:rPr>
              <a:t>Pinheiro, G. (2023, April 28). </a:t>
            </a:r>
            <a:r>
              <a:rPr lang="en-US" i="1" dirty="0">
                <a:effectLst/>
              </a:rPr>
              <a:t>Lessons on using </a:t>
            </a:r>
            <a:r>
              <a:rPr lang="en-US" i="1" dirty="0" err="1">
                <a:effectLst/>
              </a:rPr>
              <a:t>devops</a:t>
            </a:r>
            <a:r>
              <a:rPr lang="en-US" i="1" dirty="0">
                <a:effectLst/>
              </a:rPr>
              <a:t> to become more efficient and reliable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OfferZen</a:t>
            </a:r>
            <a:r>
              <a:rPr lang="en-US" dirty="0">
                <a:effectLst/>
              </a:rPr>
              <a:t>. https://www.offerzen.com/blog/using-devops-efficient-and-reliable/ </a:t>
            </a:r>
          </a:p>
          <a:p>
            <a:r>
              <a:rPr lang="en-US" i="1" dirty="0">
                <a:effectLst/>
              </a:rPr>
              <a:t>Understanding the work in our value stream and improving flow</a:t>
            </a:r>
            <a:r>
              <a:rPr lang="en-US" dirty="0">
                <a:effectLst/>
              </a:rPr>
              <a:t>. IT Revolution. (2023, February 1). https://itrevolution.com/articles/improve-flow-devops-value-stream/?.com </a:t>
            </a:r>
          </a:p>
          <a:p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523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489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The Technology Value Stream</vt:lpstr>
      <vt:lpstr>What is Technology Value Stream?</vt:lpstr>
      <vt:lpstr>Most Common Scenarios</vt:lpstr>
      <vt:lpstr>Our DevOps Ideal</vt:lpstr>
      <vt:lpstr>How to apply Technology Value Stream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 Kuenning</dc:creator>
  <cp:lastModifiedBy>Kris Kuenning</cp:lastModifiedBy>
  <cp:revision>1</cp:revision>
  <dcterms:created xsi:type="dcterms:W3CDTF">2025-10-27T03:47:13Z</dcterms:created>
  <dcterms:modified xsi:type="dcterms:W3CDTF">2025-10-27T04:14:11Z</dcterms:modified>
</cp:coreProperties>
</file>